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16"/>
  </p:notesMasterIdLst>
  <p:sldIdLst>
    <p:sldId id="256" r:id="rId2"/>
    <p:sldId id="257" r:id="rId3"/>
    <p:sldId id="258" r:id="rId4"/>
    <p:sldId id="259" r:id="rId5"/>
    <p:sldId id="261" r:id="rId6"/>
    <p:sldId id="266" r:id="rId7"/>
    <p:sldId id="263" r:id="rId8"/>
    <p:sldId id="264" r:id="rId9"/>
    <p:sldId id="265" r:id="rId10"/>
    <p:sldId id="267" r:id="rId11"/>
    <p:sldId id="268" r:id="rId12"/>
    <p:sldId id="269"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CDD7E-479A-4284-9B8E-FD70BB22AFE4}" type="datetimeFigureOut">
              <a:rPr lang="en-US" smtClean="0"/>
              <a:t>5/5/2024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23D600-6080-4682-AF61-06E7C2DFD4D9}" type="slidenum">
              <a:rPr lang="en-US" smtClean="0"/>
              <a:t>‹#›</a:t>
            </a:fld>
            <a:endParaRPr lang="en-US"/>
          </a:p>
        </p:txBody>
      </p:sp>
    </p:spTree>
    <p:extLst>
      <p:ext uri="{BB962C8B-B14F-4D97-AF65-F5344CB8AC3E}">
        <p14:creationId xmlns:p14="http://schemas.microsoft.com/office/powerpoint/2010/main" val="4171338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241328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30768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468624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8322F6-1C60-46CF-968C-BC20E470F443}" type="datetimeFigureOut">
              <a:rPr lang="en-US" smtClean="0"/>
              <a:t>5/5/2024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458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8322F6-1C60-46CF-968C-BC20E470F443}" type="datetimeFigureOut">
              <a:rPr lang="en-US" smtClean="0"/>
              <a:t>5/5/2024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028771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8322F6-1C60-46CF-968C-BC20E470F443}" type="datetimeFigureOut">
              <a:rPr lang="en-US" smtClean="0"/>
              <a:t>5/5/2024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19806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8322F6-1C60-46CF-968C-BC20E470F443}" type="datetimeFigureOut">
              <a:rPr lang="en-US" smtClean="0"/>
              <a:t>5/5/2024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2829187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8322F6-1C60-46CF-968C-BC20E470F443}" type="datetimeFigureOut">
              <a:rPr lang="en-US" smtClean="0"/>
              <a:t>5/5/2024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656823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8322F6-1C60-46CF-968C-BC20E470F443}" type="datetimeFigureOut">
              <a:rPr lang="en-US" smtClean="0"/>
              <a:t>5/5/2024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983349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2117490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32761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956335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53655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132754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99735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8322F6-1C60-46CF-968C-BC20E470F443}" type="datetimeFigureOut">
              <a:rPr lang="en-US" smtClean="0"/>
              <a:t>5/5/2024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703813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C8322F6-1C60-46CF-968C-BC20E470F443}" type="datetimeFigureOut">
              <a:rPr lang="en-US" smtClean="0"/>
              <a:t>5/5/2024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EEB83C2-341F-4C28-A243-1C56DDDA54D3}" type="slidenum">
              <a:rPr lang="en-US" smtClean="0"/>
              <a:t>‹#›</a:t>
            </a:fld>
            <a:endParaRPr lang="en-US"/>
          </a:p>
        </p:txBody>
      </p:sp>
    </p:spTree>
    <p:extLst>
      <p:ext uri="{BB962C8B-B14F-4D97-AF65-F5344CB8AC3E}">
        <p14:creationId xmlns:p14="http://schemas.microsoft.com/office/powerpoint/2010/main" val="3455964611"/>
      </p:ext>
    </p:extLst>
  </p:cSld>
  <p:clrMap bg1="dk1" tx1="lt1" bg2="dk2"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6EA70-8BAE-E89B-B01B-D2746A01140D}"/>
              </a:ext>
            </a:extLst>
          </p:cNvPr>
          <p:cNvSpPr>
            <a:spLocks noGrp="1"/>
          </p:cNvSpPr>
          <p:nvPr>
            <p:ph type="ctrTitle"/>
          </p:nvPr>
        </p:nvSpPr>
        <p:spPr>
          <a:xfrm>
            <a:off x="653846" y="1629878"/>
            <a:ext cx="9390528" cy="1401183"/>
          </a:xfrm>
        </p:spPr>
        <p:txBody>
          <a:bodyPr vert="horz" lIns="91440" tIns="45720" rIns="91440" bIns="45720" rtlCol="0" anchor="t">
            <a:normAutofit fontScale="90000"/>
          </a:bodyPr>
          <a:lstStyle/>
          <a:p>
            <a:pPr algn="l"/>
            <a:r>
              <a:rPr lang="en-US" sz="3000" b="1" kern="1200">
                <a:solidFill>
                  <a:schemeClr val="tx1"/>
                </a:solidFill>
                <a:effectLst/>
                <a:latin typeface="+mj-lt"/>
                <a:ea typeface="+mj-ea"/>
                <a:cs typeface="+mj-cs"/>
              </a:rPr>
              <a:t>Enhancing Scene Graph Generation with Stacked Motif Networks and Deep Learning Innovations</a:t>
            </a:r>
            <a:br>
              <a:rPr lang="en-US" sz="3000" kern="1200">
                <a:solidFill>
                  <a:schemeClr val="tx1"/>
                </a:solidFill>
                <a:effectLst/>
                <a:latin typeface="+mj-lt"/>
                <a:ea typeface="+mj-ea"/>
                <a:cs typeface="+mj-cs"/>
              </a:rPr>
            </a:br>
            <a:endParaRPr lang="en-US" sz="3000" kern="1200">
              <a:solidFill>
                <a:schemeClr val="tx1"/>
              </a:solidFill>
              <a:latin typeface="+mj-lt"/>
              <a:ea typeface="+mj-ea"/>
              <a:cs typeface="+mj-cs"/>
            </a:endParaRPr>
          </a:p>
        </p:txBody>
      </p:sp>
      <p:sp>
        <p:nvSpPr>
          <p:cNvPr id="3" name="Subtitle 2">
            <a:extLst>
              <a:ext uri="{FF2B5EF4-FFF2-40B4-BE49-F238E27FC236}">
                <a16:creationId xmlns:a16="http://schemas.microsoft.com/office/drawing/2014/main" id="{27B52502-B315-E190-6641-949633734158}"/>
              </a:ext>
            </a:extLst>
          </p:cNvPr>
          <p:cNvSpPr>
            <a:spLocks noGrp="1"/>
          </p:cNvSpPr>
          <p:nvPr>
            <p:ph type="subTitle" idx="1"/>
          </p:nvPr>
        </p:nvSpPr>
        <p:spPr>
          <a:xfrm>
            <a:off x="762001" y="5373889"/>
            <a:ext cx="10069605" cy="3602935"/>
          </a:xfrm>
        </p:spPr>
        <p:txBody>
          <a:bodyPr vert="horz" lIns="91440" tIns="45720" rIns="91440" bIns="45720" rtlCol="0">
            <a:normAutofit/>
          </a:bodyPr>
          <a:lstStyle/>
          <a:p>
            <a:pPr algn="l"/>
            <a:r>
              <a:rPr lang="en-US" sz="2000" dirty="0">
                <a:effectLst/>
              </a:rPr>
              <a:t>Bharath Kumar Tanniru(02078210)</a:t>
            </a:r>
          </a:p>
          <a:p>
            <a:pPr algn="l"/>
            <a:r>
              <a:rPr lang="en-US" sz="2000" dirty="0" err="1">
                <a:effectLst/>
              </a:rPr>
              <a:t>Abhinava</a:t>
            </a:r>
            <a:r>
              <a:rPr lang="en-US" sz="2000" dirty="0">
                <a:effectLst/>
              </a:rPr>
              <a:t> Tirumala Sai Ganesh </a:t>
            </a:r>
            <a:r>
              <a:rPr lang="en-US" sz="2000" dirty="0" err="1">
                <a:effectLst/>
              </a:rPr>
              <a:t>Kunapareddy</a:t>
            </a:r>
            <a:r>
              <a:rPr lang="en-US" sz="2000" dirty="0">
                <a:effectLst/>
              </a:rPr>
              <a:t>(02082182)</a:t>
            </a:r>
            <a:br>
              <a:rPr lang="en-US" sz="2000" dirty="0">
                <a:effectLst/>
              </a:rPr>
            </a:br>
            <a:endParaRPr lang="en-US" sz="2000" dirty="0">
              <a:effectLst/>
            </a:endParaRPr>
          </a:p>
          <a:p>
            <a:pPr indent="-228600" algn="l">
              <a:buFont typeface="Arial" panose="020B0604020202020204" pitchFamily="34" charset="0"/>
              <a:buChar char="•"/>
            </a:pPr>
            <a:endParaRPr lang="en-US" sz="2000" dirty="0"/>
          </a:p>
        </p:txBody>
      </p:sp>
    </p:spTree>
    <p:extLst>
      <p:ext uri="{BB962C8B-B14F-4D97-AF65-F5344CB8AC3E}">
        <p14:creationId xmlns:p14="http://schemas.microsoft.com/office/powerpoint/2010/main" val="3846789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86040-C47E-9EE4-D189-DD11E64B34E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0648415-7FC0-7B55-F4DA-CC0649AB7072}"/>
              </a:ext>
            </a:extLst>
          </p:cNvPr>
          <p:cNvSpPr>
            <a:spLocks noGrp="1"/>
          </p:cNvSpPr>
          <p:nvPr>
            <p:ph idx="1"/>
          </p:nvPr>
        </p:nvSpPr>
        <p:spPr/>
        <p:txBody>
          <a:bodyPr>
            <a:normAutofit/>
          </a:bodyPr>
          <a:lstStyle/>
          <a:p>
            <a:r>
              <a:rPr lang="en-US" dirty="0"/>
              <a:t>The Project aims to enhance the capabilities of Scene Graph Generation (SGG) using advanced deep learning techniques. The project's primary focus is on improving the Stacked Motif Networks (MOTIFNET), a methodology that utilizes motifs—recurring patterns—to predict the structure of new, unseen scenes.</a:t>
            </a:r>
          </a:p>
          <a:p>
            <a:r>
              <a:rPr lang="en-US" dirty="0"/>
              <a:t>This project is like teaching a computer to view and understand pictures and videos like a human would, recognizing not just objects but also how they interact. This ability can make technologies like autonomous cars safer and more efficient, help robots better navigate and operate in their environments, and enhance security systems to be more effective in monitoring and responding to activities.</a:t>
            </a:r>
          </a:p>
        </p:txBody>
      </p:sp>
    </p:spTree>
    <p:extLst>
      <p:ext uri="{BB962C8B-B14F-4D97-AF65-F5344CB8AC3E}">
        <p14:creationId xmlns:p14="http://schemas.microsoft.com/office/powerpoint/2010/main" val="2779534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E7C01-4E74-34A8-DA26-25D48B071E06}"/>
              </a:ext>
            </a:extLst>
          </p:cNvPr>
          <p:cNvSpPr>
            <a:spLocks noGrp="1"/>
          </p:cNvSpPr>
          <p:nvPr>
            <p:ph type="title"/>
          </p:nvPr>
        </p:nvSpPr>
        <p:spPr/>
        <p:txBody>
          <a:bodyPr/>
          <a:lstStyle/>
          <a:p>
            <a:r>
              <a:rPr lang="en-US" dirty="0"/>
              <a:t>Aim of project</a:t>
            </a:r>
          </a:p>
        </p:txBody>
      </p:sp>
      <p:sp>
        <p:nvSpPr>
          <p:cNvPr id="3" name="Content Placeholder 2">
            <a:extLst>
              <a:ext uri="{FF2B5EF4-FFF2-40B4-BE49-F238E27FC236}">
                <a16:creationId xmlns:a16="http://schemas.microsoft.com/office/drawing/2014/main" id="{5856BC54-ADC7-80FE-0107-8256AC2B1AC2}"/>
              </a:ext>
            </a:extLst>
          </p:cNvPr>
          <p:cNvSpPr>
            <a:spLocks noGrp="1"/>
          </p:cNvSpPr>
          <p:nvPr>
            <p:ph idx="1"/>
          </p:nvPr>
        </p:nvSpPr>
        <p:spPr/>
        <p:txBody>
          <a:bodyPr>
            <a:normAutofit/>
          </a:bodyPr>
          <a:lstStyle/>
          <a:p>
            <a:r>
              <a:rPr lang="en-US" dirty="0"/>
              <a:t>The project focuses on improving how computers understand and interpret what they see in pictures or videos. Imagine if a computer could look at a family photo and not only recognize the people and objects (like a ball, a dog, or a picnic table) but also understand the relationships and actions depicted—like a child throwing the ball, or a dog sitting under the table. This is what the project aims to enhance through something called "Scene Graph Generation.“</a:t>
            </a:r>
          </a:p>
          <a:p>
            <a:endParaRPr lang="en-US" dirty="0"/>
          </a:p>
          <a:p>
            <a:endParaRPr lang="en-US" dirty="0"/>
          </a:p>
        </p:txBody>
      </p:sp>
    </p:spTree>
    <p:extLst>
      <p:ext uri="{BB962C8B-B14F-4D97-AF65-F5344CB8AC3E}">
        <p14:creationId xmlns:p14="http://schemas.microsoft.com/office/powerpoint/2010/main" val="2725522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22FE8-4C20-BB4B-41DB-33DA49189295}"/>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7758DB95-7524-41AE-BD17-2874BB9A4E40}"/>
              </a:ext>
            </a:extLst>
          </p:cNvPr>
          <p:cNvSpPr>
            <a:spLocks noGrp="1"/>
          </p:cNvSpPr>
          <p:nvPr>
            <p:ph idx="1"/>
          </p:nvPr>
        </p:nvSpPr>
        <p:spPr/>
        <p:txBody>
          <a:bodyPr>
            <a:normAutofit fontScale="92500" lnSpcReduction="10000"/>
          </a:bodyPr>
          <a:lstStyle/>
          <a:p>
            <a:pPr marL="0" indent="0">
              <a:buNone/>
            </a:pPr>
            <a:r>
              <a:rPr lang="en-US" dirty="0"/>
              <a:t>Reproducibility:</a:t>
            </a:r>
          </a:p>
          <a:p>
            <a:r>
              <a:rPr lang="en-US" dirty="0"/>
              <a:t>Emphasize the importance of scientific rigor by replicating the original Stacked Motif Networks (MOTIFNET) architecture as the baseline.</a:t>
            </a:r>
          </a:p>
          <a:p>
            <a:r>
              <a:rPr lang="en-US" dirty="0"/>
              <a:t>Mention the meticulous documentation of each step, including data preprocessing, model initialization, training protocols, and hyperparameter settings.</a:t>
            </a:r>
          </a:p>
          <a:p>
            <a:r>
              <a:rPr lang="en-US" dirty="0"/>
              <a:t>Transparency is ensured by making the entire codebase, including data processing scripts, openly accessible.</a:t>
            </a:r>
          </a:p>
          <a:p>
            <a:pPr marL="0" indent="0">
              <a:buNone/>
            </a:pPr>
            <a:r>
              <a:rPr lang="en-US" dirty="0"/>
              <a:t>Experimentation Benchmark:</a:t>
            </a:r>
          </a:p>
          <a:p>
            <a:r>
              <a:rPr lang="en-US" dirty="0"/>
              <a:t>Aligns with the original work using the Visual Genome dataset for direct and comparable evaluation.</a:t>
            </a:r>
          </a:p>
          <a:p>
            <a:r>
              <a:rPr lang="en-US" dirty="0"/>
              <a:t>Detailed documentation of the computational environment (software and library versions) facilitates replication.</a:t>
            </a:r>
          </a:p>
          <a:p>
            <a:endParaRPr lang="en-US" dirty="0"/>
          </a:p>
        </p:txBody>
      </p:sp>
    </p:spTree>
    <p:extLst>
      <p:ext uri="{BB962C8B-B14F-4D97-AF65-F5344CB8AC3E}">
        <p14:creationId xmlns:p14="http://schemas.microsoft.com/office/powerpoint/2010/main" val="4114048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76B5-4C7F-5D00-2464-8EF5F353307D}"/>
              </a:ext>
            </a:extLst>
          </p:cNvPr>
          <p:cNvSpPr>
            <a:spLocks noGrp="1"/>
          </p:cNvSpPr>
          <p:nvPr>
            <p:ph type="title"/>
          </p:nvPr>
        </p:nvSpPr>
        <p:spPr/>
        <p:txBody>
          <a:bodyPr/>
          <a:lstStyle/>
          <a:p>
            <a:r>
              <a:rPr lang="en-US" dirty="0"/>
              <a:t>Enhancements</a:t>
            </a:r>
          </a:p>
        </p:txBody>
      </p:sp>
      <p:sp>
        <p:nvSpPr>
          <p:cNvPr id="3" name="Content Placeholder 2">
            <a:extLst>
              <a:ext uri="{FF2B5EF4-FFF2-40B4-BE49-F238E27FC236}">
                <a16:creationId xmlns:a16="http://schemas.microsoft.com/office/drawing/2014/main" id="{46757AD2-8D5A-CCBA-99C0-8F5F713B32D1}"/>
              </a:ext>
            </a:extLst>
          </p:cNvPr>
          <p:cNvSpPr>
            <a:spLocks noGrp="1"/>
          </p:cNvSpPr>
          <p:nvPr>
            <p:ph idx="1"/>
          </p:nvPr>
        </p:nvSpPr>
        <p:spPr/>
        <p:txBody>
          <a:bodyPr>
            <a:normAutofit fontScale="92500" lnSpcReduction="10000"/>
          </a:bodyPr>
          <a:lstStyle/>
          <a:p>
            <a:pPr marL="0" indent="0">
              <a:buNone/>
            </a:pPr>
            <a:r>
              <a:rPr lang="en-US" dirty="0"/>
              <a:t>Choice of MOTIFNET:</a:t>
            </a:r>
          </a:p>
          <a:p>
            <a:r>
              <a:rPr lang="en-US" dirty="0"/>
              <a:t>Selected due to its use of motifs to predict scene structures and state-of-the-art performance in scene graph generation tasks.</a:t>
            </a:r>
          </a:p>
          <a:p>
            <a:r>
              <a:rPr lang="en-US" dirty="0"/>
              <a:t>Captures recurring patterns, or motifs, in visual scenes, allowing for high accuracy in predicting scene structures.</a:t>
            </a:r>
          </a:p>
          <a:p>
            <a:pPr marL="0" indent="0">
              <a:buNone/>
            </a:pPr>
            <a:r>
              <a:rPr lang="en-US" dirty="0"/>
              <a:t>Enhancements:</a:t>
            </a:r>
          </a:p>
          <a:p>
            <a:pPr marL="0" indent="0">
              <a:buNone/>
            </a:pPr>
            <a:r>
              <a:rPr lang="en-US" dirty="0"/>
              <a:t>Attention Mechanisms: Multi-head self-attention highlights salient features and relationships, improving contextual awareness and SGG accuracy.</a:t>
            </a:r>
          </a:p>
          <a:p>
            <a:pPr marL="0" indent="0">
              <a:buNone/>
            </a:pPr>
            <a:r>
              <a:rPr lang="en-US" dirty="0"/>
              <a:t>Graph Neural Networks (GNNs): Enhance relational reasoning capabilities, capturing dependencies between objects and relationships.</a:t>
            </a:r>
          </a:p>
          <a:p>
            <a:pPr marL="0" indent="0">
              <a:buNone/>
            </a:pPr>
            <a:r>
              <a:rPr lang="en-US" dirty="0"/>
              <a:t>Knowledge Distillation: Improves efficiency and scalability by training a smaller student network to mimic a larger teacher network, reducing costs.</a:t>
            </a:r>
          </a:p>
          <a:p>
            <a:endParaRPr lang="en-US" dirty="0"/>
          </a:p>
        </p:txBody>
      </p:sp>
    </p:spTree>
    <p:extLst>
      <p:ext uri="{BB962C8B-B14F-4D97-AF65-F5344CB8AC3E}">
        <p14:creationId xmlns:p14="http://schemas.microsoft.com/office/powerpoint/2010/main" val="933086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AA710-E4E8-217F-E5B6-41F8A92243BC}"/>
              </a:ext>
            </a:extLst>
          </p:cNvPr>
          <p:cNvSpPr>
            <a:spLocks noGrp="1"/>
          </p:cNvSpPr>
          <p:nvPr>
            <p:ph type="title"/>
          </p:nvPr>
        </p:nvSpPr>
        <p:spPr>
          <a:xfrm>
            <a:off x="432718" y="594521"/>
            <a:ext cx="8596667" cy="566738"/>
          </a:xfrm>
        </p:spPr>
        <p:txBody>
          <a:bodyPr/>
          <a:lstStyle/>
          <a:p>
            <a:r>
              <a:rPr lang="en-US" dirty="0"/>
              <a:t>Techniques</a:t>
            </a:r>
          </a:p>
        </p:txBody>
      </p:sp>
      <p:sp>
        <p:nvSpPr>
          <p:cNvPr id="4" name="Text Placeholder 3">
            <a:extLst>
              <a:ext uri="{FF2B5EF4-FFF2-40B4-BE49-F238E27FC236}">
                <a16:creationId xmlns:a16="http://schemas.microsoft.com/office/drawing/2014/main" id="{3078FB80-07F5-4524-1026-412E0756728C}"/>
              </a:ext>
            </a:extLst>
          </p:cNvPr>
          <p:cNvSpPr>
            <a:spLocks noGrp="1"/>
          </p:cNvSpPr>
          <p:nvPr>
            <p:ph type="body" sz="half" idx="2"/>
          </p:nvPr>
        </p:nvSpPr>
        <p:spPr>
          <a:xfrm>
            <a:off x="293875" y="1419423"/>
            <a:ext cx="4926466" cy="5182937"/>
          </a:xfrm>
        </p:spPr>
        <p:txBody>
          <a:bodyPr>
            <a:normAutofit/>
          </a:bodyPr>
          <a:lstStyle/>
          <a:p>
            <a:pPr marL="0" indent="0">
              <a:lnSpc>
                <a:spcPct val="110000"/>
              </a:lnSpc>
              <a:buNone/>
            </a:pPr>
            <a:r>
              <a:rPr lang="en-US" sz="1600" dirty="0"/>
              <a:t>Multi-Head Self-Attention:</a:t>
            </a:r>
          </a:p>
          <a:p>
            <a:pPr>
              <a:lnSpc>
                <a:spcPct val="110000"/>
              </a:lnSpc>
            </a:pPr>
            <a:r>
              <a:rPr lang="en-US" sz="1600" dirty="0"/>
              <a:t>Divides input embedding into multiple heads, focusing on various image regions simultaneously.</a:t>
            </a:r>
          </a:p>
          <a:p>
            <a:pPr>
              <a:lnSpc>
                <a:spcPct val="110000"/>
              </a:lnSpc>
            </a:pPr>
            <a:r>
              <a:rPr lang="en-US" sz="1600" dirty="0"/>
              <a:t>Enhances contextual awareness and accuracy in scene graph generation (SGG) tasks.</a:t>
            </a:r>
          </a:p>
          <a:p>
            <a:pPr marL="0" indent="0">
              <a:lnSpc>
                <a:spcPct val="110000"/>
              </a:lnSpc>
              <a:buNone/>
            </a:pPr>
            <a:r>
              <a:rPr lang="en-US" sz="1600" dirty="0"/>
              <a:t>Graph Neural Networks (GNNs):</a:t>
            </a:r>
          </a:p>
          <a:p>
            <a:pPr>
              <a:lnSpc>
                <a:spcPct val="110000"/>
              </a:lnSpc>
            </a:pPr>
            <a:r>
              <a:rPr lang="en-US" sz="1600" dirty="0"/>
              <a:t>Uses </a:t>
            </a:r>
            <a:r>
              <a:rPr lang="en-US" sz="1600" dirty="0" err="1"/>
              <a:t>GCNConv</a:t>
            </a:r>
            <a:r>
              <a:rPr lang="en-US" sz="1600" dirty="0"/>
              <a:t> to process graph-based data, with nodes representing objects and edges representing relationships.</a:t>
            </a:r>
          </a:p>
          <a:p>
            <a:pPr>
              <a:lnSpc>
                <a:spcPct val="110000"/>
              </a:lnSpc>
            </a:pPr>
            <a:r>
              <a:rPr lang="en-US" sz="1600" dirty="0"/>
              <a:t>Improves relational reasoning capabilities by capturing connections and dependencies.</a:t>
            </a:r>
          </a:p>
          <a:p>
            <a:endParaRPr lang="en-US" dirty="0"/>
          </a:p>
        </p:txBody>
      </p:sp>
      <p:sp>
        <p:nvSpPr>
          <p:cNvPr id="6" name="TextBox 5">
            <a:extLst>
              <a:ext uri="{FF2B5EF4-FFF2-40B4-BE49-F238E27FC236}">
                <a16:creationId xmlns:a16="http://schemas.microsoft.com/office/drawing/2014/main" id="{36CFDE7F-273A-4AF9-F219-B57B8ABD4E8E}"/>
              </a:ext>
            </a:extLst>
          </p:cNvPr>
          <p:cNvSpPr txBox="1"/>
          <p:nvPr/>
        </p:nvSpPr>
        <p:spPr>
          <a:xfrm>
            <a:off x="6209697" y="4997314"/>
            <a:ext cx="4845365" cy="276999"/>
          </a:xfrm>
          <a:prstGeom prst="rect">
            <a:avLst/>
          </a:prstGeom>
          <a:noFill/>
        </p:spPr>
        <p:txBody>
          <a:bodyPr wrap="none" rtlCol="0">
            <a:spAutoFit/>
          </a:bodyPr>
          <a:lstStyle/>
          <a:p>
            <a:r>
              <a:rPr lang="en-US" sz="1200" dirty="0"/>
              <a:t>Figure 2: This figure illustrates the heatmap output of the attention .</a:t>
            </a:r>
          </a:p>
        </p:txBody>
      </p:sp>
      <p:pic>
        <p:nvPicPr>
          <p:cNvPr id="1028" name="Picture 4">
            <a:extLst>
              <a:ext uri="{FF2B5EF4-FFF2-40B4-BE49-F238E27FC236}">
                <a16:creationId xmlns:a16="http://schemas.microsoft.com/office/drawing/2014/main" id="{85841195-BB60-1E66-F2F6-36551217AF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341" y="594521"/>
            <a:ext cx="6569041" cy="4402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813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E20C99-8F0B-E682-6119-0F175B185B1F}"/>
              </a:ext>
            </a:extLst>
          </p:cNvPr>
          <p:cNvSpPr txBox="1"/>
          <p:nvPr/>
        </p:nvSpPr>
        <p:spPr>
          <a:xfrm>
            <a:off x="554704" y="1366686"/>
            <a:ext cx="5467441" cy="4834337"/>
          </a:xfrm>
          <a:prstGeom prst="rect">
            <a:avLst/>
          </a:prstGeom>
        </p:spPr>
        <p:txBody>
          <a:bodyPr vert="horz" lIns="91440" tIns="45720" rIns="91440" bIns="45720" rtlCol="0" anchor="b">
            <a:noAutofit/>
          </a:bodyPr>
          <a:lstStyle/>
          <a:p>
            <a:pPr indent="-228600">
              <a:lnSpc>
                <a:spcPct val="110000"/>
              </a:lnSpc>
              <a:spcAft>
                <a:spcPts val="600"/>
              </a:spcAft>
              <a:buSzPct val="80000"/>
            </a:pPr>
            <a:r>
              <a:rPr lang="en-US" sz="1400" dirty="0"/>
              <a:t>CNNs:</a:t>
            </a:r>
          </a:p>
          <a:p>
            <a:pPr marL="285750" indent="-228600">
              <a:lnSpc>
                <a:spcPct val="110000"/>
              </a:lnSpc>
              <a:spcAft>
                <a:spcPts val="600"/>
              </a:spcAft>
              <a:buSzPct val="80000"/>
              <a:buFont typeface="Arial" panose="020B0604020202020204" pitchFamily="34" charset="0"/>
              <a:buChar char="•"/>
            </a:pPr>
            <a:r>
              <a:rPr lang="en-US" sz="1400" dirty="0"/>
              <a:t>Extracts spatial features using convolutional and pooling layers, setting a foundation for further processing.</a:t>
            </a:r>
          </a:p>
          <a:p>
            <a:pPr marL="285750" indent="-228600">
              <a:lnSpc>
                <a:spcPct val="110000"/>
              </a:lnSpc>
              <a:spcAft>
                <a:spcPts val="600"/>
              </a:spcAft>
              <a:buSzPct val="80000"/>
              <a:buFont typeface="Arial" panose="020B0604020202020204" pitchFamily="34" charset="0"/>
              <a:buChar char="•"/>
            </a:pPr>
            <a:r>
              <a:rPr lang="en-US" sz="1400" dirty="0"/>
              <a:t>Provides essential data for SGG, capturing object-level information for subsequent analysis.</a:t>
            </a:r>
          </a:p>
          <a:p>
            <a:pPr indent="-228600">
              <a:lnSpc>
                <a:spcPct val="110000"/>
              </a:lnSpc>
              <a:spcAft>
                <a:spcPts val="600"/>
              </a:spcAft>
              <a:buSzPct val="80000"/>
            </a:pPr>
            <a:r>
              <a:rPr lang="en-US" sz="1400" dirty="0"/>
              <a:t>Faster R-CNN:</a:t>
            </a:r>
          </a:p>
          <a:p>
            <a:pPr marL="285750" indent="-228600">
              <a:lnSpc>
                <a:spcPct val="110000"/>
              </a:lnSpc>
              <a:spcAft>
                <a:spcPts val="600"/>
              </a:spcAft>
              <a:buSzPct val="80000"/>
              <a:buFont typeface="Arial" panose="020B0604020202020204" pitchFamily="34" charset="0"/>
              <a:buChar char="•"/>
            </a:pPr>
            <a:r>
              <a:rPr lang="en-US" sz="1400" dirty="0"/>
              <a:t>Pre-trained model for object detection, identifying and classifying objects with bounding boxes.</a:t>
            </a:r>
          </a:p>
          <a:p>
            <a:pPr marL="285750" indent="-228600">
              <a:lnSpc>
                <a:spcPct val="110000"/>
              </a:lnSpc>
              <a:spcAft>
                <a:spcPts val="600"/>
              </a:spcAft>
              <a:buSzPct val="80000"/>
              <a:buFont typeface="Arial" panose="020B0604020202020204" pitchFamily="34" charset="0"/>
              <a:buChar char="•"/>
            </a:pPr>
            <a:r>
              <a:rPr lang="en-US" sz="1400" dirty="0"/>
              <a:t>Forms a robust foundation for SGG, accurately detecting and classifying objects.</a:t>
            </a:r>
          </a:p>
          <a:p>
            <a:pPr indent="-228600">
              <a:lnSpc>
                <a:spcPct val="110000"/>
              </a:lnSpc>
              <a:spcAft>
                <a:spcPts val="600"/>
              </a:spcAft>
              <a:buSzPct val="80000"/>
            </a:pPr>
            <a:r>
              <a:rPr lang="en-US" sz="1400" dirty="0"/>
              <a:t>Knowledge Distillation</a:t>
            </a:r>
          </a:p>
          <a:p>
            <a:pPr marL="285750" indent="-228600">
              <a:lnSpc>
                <a:spcPct val="110000"/>
              </a:lnSpc>
              <a:spcAft>
                <a:spcPts val="600"/>
              </a:spcAft>
              <a:buSzPct val="80000"/>
              <a:buFont typeface="Arial" panose="020B0604020202020204" pitchFamily="34" charset="0"/>
              <a:buChar char="•"/>
            </a:pPr>
            <a:r>
              <a:rPr lang="en-US" sz="1400" dirty="0"/>
              <a:t>Trains a smaller student network to mimic a larger teacher network using a distillation loss function.</a:t>
            </a:r>
          </a:p>
          <a:p>
            <a:pPr marL="285750" indent="-228600">
              <a:lnSpc>
                <a:spcPct val="110000"/>
              </a:lnSpc>
              <a:spcAft>
                <a:spcPts val="600"/>
              </a:spcAft>
              <a:buSzPct val="80000"/>
              <a:buFont typeface="Arial" panose="020B0604020202020204" pitchFamily="34" charset="0"/>
              <a:buChar char="•"/>
            </a:pPr>
            <a:r>
              <a:rPr lang="en-US" sz="1400" dirty="0"/>
              <a:t>Encourages the student network to replicate the teacher's performance, combining cross-entropy and comparative loss functions.</a:t>
            </a:r>
          </a:p>
          <a:p>
            <a:pPr marL="285750" indent="-228600">
              <a:lnSpc>
                <a:spcPct val="110000"/>
              </a:lnSpc>
              <a:spcAft>
                <a:spcPts val="600"/>
              </a:spcAft>
              <a:buSzPct val="80000"/>
              <a:buFont typeface="Arial" panose="020B0604020202020204" pitchFamily="34" charset="0"/>
              <a:buChar char="•"/>
            </a:pPr>
            <a:r>
              <a:rPr lang="en-US" sz="1400" dirty="0"/>
              <a:t>Improves scalability and efficiency, reducing costs and making it feasible for real-world applications.</a:t>
            </a:r>
          </a:p>
          <a:p>
            <a:pPr marL="285750" indent="-228600">
              <a:lnSpc>
                <a:spcPct val="110000"/>
              </a:lnSpc>
              <a:spcAft>
                <a:spcPts val="600"/>
              </a:spcAft>
              <a:buSzPct val="80000"/>
              <a:buFont typeface="Arial" panose="020B0604020202020204" pitchFamily="34" charset="0"/>
              <a:buChar char="•"/>
            </a:pPr>
            <a:endParaRPr lang="en-US" sz="1400" dirty="0"/>
          </a:p>
        </p:txBody>
      </p:sp>
      <p:pic>
        <p:nvPicPr>
          <p:cNvPr id="6" name="Picture 5" descr="A screenshot of a graph&#10;&#10;Description automatically generated">
            <a:extLst>
              <a:ext uri="{FF2B5EF4-FFF2-40B4-BE49-F238E27FC236}">
                <a16:creationId xmlns:a16="http://schemas.microsoft.com/office/drawing/2014/main" id="{E210BAC4-91B7-A1B4-6C91-4DD962AED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715437" y="1445349"/>
            <a:ext cx="5230746" cy="3170312"/>
          </a:xfrm>
          <a:prstGeom prst="rect">
            <a:avLst/>
          </a:prstGeom>
          <a:noFill/>
        </p:spPr>
      </p:pic>
      <p:sp>
        <p:nvSpPr>
          <p:cNvPr id="7" name="TextBox 6">
            <a:extLst>
              <a:ext uri="{FF2B5EF4-FFF2-40B4-BE49-F238E27FC236}">
                <a16:creationId xmlns:a16="http://schemas.microsoft.com/office/drawing/2014/main" id="{4328D6DD-BDE1-B64F-01FF-FCCCB29FC36C}"/>
              </a:ext>
            </a:extLst>
          </p:cNvPr>
          <p:cNvSpPr txBox="1"/>
          <p:nvPr/>
        </p:nvSpPr>
        <p:spPr>
          <a:xfrm>
            <a:off x="7179616" y="4838477"/>
            <a:ext cx="4894444" cy="461665"/>
          </a:xfrm>
          <a:prstGeom prst="rect">
            <a:avLst/>
          </a:prstGeom>
          <a:noFill/>
        </p:spPr>
        <p:txBody>
          <a:bodyPr wrap="square" rtlCol="0">
            <a:spAutoFit/>
          </a:bodyPr>
          <a:lstStyle/>
          <a:p>
            <a:r>
              <a:rPr lang="en-US" sz="1200" dirty="0"/>
              <a:t>Figure 1: This figure shows an image before and after applying the multi head attention model.</a:t>
            </a:r>
          </a:p>
        </p:txBody>
      </p:sp>
    </p:spTree>
    <p:extLst>
      <p:ext uri="{BB962C8B-B14F-4D97-AF65-F5344CB8AC3E}">
        <p14:creationId xmlns:p14="http://schemas.microsoft.com/office/powerpoint/2010/main" val="1788174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9215-17DA-2714-61C3-900FCBBBAFBE}"/>
              </a:ext>
            </a:extLst>
          </p:cNvPr>
          <p:cNvSpPr>
            <a:spLocks noGrp="1"/>
          </p:cNvSpPr>
          <p:nvPr>
            <p:ph type="title"/>
          </p:nvPr>
        </p:nvSpPr>
        <p:spPr/>
        <p:txBody>
          <a:bodyPr/>
          <a:lstStyle/>
          <a:p>
            <a:r>
              <a:rPr lang="en-US" dirty="0"/>
              <a:t>Computational Challenges and Solutions</a:t>
            </a:r>
          </a:p>
        </p:txBody>
      </p:sp>
      <p:sp>
        <p:nvSpPr>
          <p:cNvPr id="3" name="Content Placeholder 2">
            <a:extLst>
              <a:ext uri="{FF2B5EF4-FFF2-40B4-BE49-F238E27FC236}">
                <a16:creationId xmlns:a16="http://schemas.microsoft.com/office/drawing/2014/main" id="{E9E68582-C286-9D8C-FA8A-58CEEABB1816}"/>
              </a:ext>
            </a:extLst>
          </p:cNvPr>
          <p:cNvSpPr>
            <a:spLocks noGrp="1"/>
          </p:cNvSpPr>
          <p:nvPr>
            <p:ph idx="1"/>
          </p:nvPr>
        </p:nvSpPr>
        <p:spPr/>
        <p:txBody>
          <a:bodyPr>
            <a:normAutofit/>
          </a:bodyPr>
          <a:lstStyle/>
          <a:p>
            <a:r>
              <a:rPr lang="en-US" dirty="0"/>
              <a:t>Model Checkpointing: Uses </a:t>
            </a:r>
            <a:r>
              <a:rPr lang="en-US" dirty="0" err="1"/>
              <a:t>torch.save</a:t>
            </a:r>
            <a:r>
              <a:rPr lang="en-US" dirty="0"/>
              <a:t> to intermittently save the model's state, reducing computational demand.</a:t>
            </a:r>
          </a:p>
          <a:p>
            <a:r>
              <a:rPr lang="en-US" dirty="0"/>
              <a:t>Mixed-Precision Training: Enabled through NVIDIA's Apex, reducing memory footprint and accelerating training.</a:t>
            </a:r>
          </a:p>
          <a:p>
            <a:r>
              <a:rPr lang="en-US" dirty="0"/>
              <a:t>GNN Stabilization: Skip connections (via </a:t>
            </a:r>
            <a:r>
              <a:rPr lang="en-US" dirty="0" err="1"/>
              <a:t>nn.Sequential</a:t>
            </a:r>
            <a:r>
              <a:rPr lang="en-US" dirty="0"/>
              <a:t>) and learning rate scheduling (</a:t>
            </a:r>
            <a:r>
              <a:rPr lang="en-US" dirty="0" err="1"/>
              <a:t>optim.lr.scheduler</a:t>
            </a:r>
            <a:r>
              <a:rPr lang="en-US" dirty="0"/>
              <a:t>) for effective learning.</a:t>
            </a:r>
          </a:p>
          <a:p>
            <a:r>
              <a:rPr lang="en-US" dirty="0"/>
              <a:t>Attention Mechanisms: Trade-off addressed with Ray Tune hyperparameter tuning, choosing six attention heads.</a:t>
            </a:r>
          </a:p>
          <a:p>
            <a:r>
              <a:rPr lang="en-US" dirty="0"/>
              <a:t>Knowledge Distillation: Grid search tuning identifies a temperature of 3 for softening logits, optimizing validation accuracy.</a:t>
            </a:r>
          </a:p>
        </p:txBody>
      </p:sp>
    </p:spTree>
    <p:extLst>
      <p:ext uri="{BB962C8B-B14F-4D97-AF65-F5344CB8AC3E}">
        <p14:creationId xmlns:p14="http://schemas.microsoft.com/office/powerpoint/2010/main" val="3970416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12FFC-9358-B01C-ACCD-2E0801DA2B16}"/>
              </a:ext>
            </a:extLst>
          </p:cNvPr>
          <p:cNvSpPr>
            <a:spLocks noGrp="1"/>
          </p:cNvSpPr>
          <p:nvPr>
            <p:ph type="title"/>
          </p:nvPr>
        </p:nvSpPr>
        <p:spPr/>
        <p:txBody>
          <a:bodyPr/>
          <a:lstStyle/>
          <a:p>
            <a:r>
              <a:rPr lang="en-US" dirty="0"/>
              <a:t>Discussions and Result</a:t>
            </a:r>
          </a:p>
        </p:txBody>
      </p:sp>
      <p:sp>
        <p:nvSpPr>
          <p:cNvPr id="3" name="Content Placeholder 2">
            <a:extLst>
              <a:ext uri="{FF2B5EF4-FFF2-40B4-BE49-F238E27FC236}">
                <a16:creationId xmlns:a16="http://schemas.microsoft.com/office/drawing/2014/main" id="{2B2F2B47-2813-E8F1-3BF3-EE443AC669DF}"/>
              </a:ext>
            </a:extLst>
          </p:cNvPr>
          <p:cNvSpPr>
            <a:spLocks noGrp="1"/>
          </p:cNvSpPr>
          <p:nvPr>
            <p:ph idx="1"/>
          </p:nvPr>
        </p:nvSpPr>
        <p:spPr/>
        <p:txBody>
          <a:bodyPr>
            <a:normAutofit fontScale="92500" lnSpcReduction="10000"/>
          </a:bodyPr>
          <a:lstStyle/>
          <a:p>
            <a:pPr marL="0" indent="0">
              <a:buNone/>
            </a:pPr>
            <a:r>
              <a:rPr lang="en-US" dirty="0"/>
              <a:t>Multi-Head Self-Attention:</a:t>
            </a:r>
          </a:p>
          <a:p>
            <a:r>
              <a:rPr lang="en-US" dirty="0"/>
              <a:t>Increases recall metrics, offering a more discriminating analysis of scene elements.</a:t>
            </a:r>
          </a:p>
          <a:p>
            <a:r>
              <a:rPr lang="en-US" dirty="0"/>
              <a:t>Helps identify both obvious and contextually significant relationships.</a:t>
            </a:r>
          </a:p>
          <a:p>
            <a:pPr marL="0" indent="0">
              <a:buNone/>
            </a:pPr>
            <a:r>
              <a:rPr lang="en-US" dirty="0"/>
              <a:t>Graph Neural Networks (GNNs):</a:t>
            </a:r>
          </a:p>
          <a:p>
            <a:r>
              <a:rPr lang="en-US" dirty="0"/>
              <a:t>Improves the model's ability to encode and predict complex relationships.</a:t>
            </a:r>
          </a:p>
          <a:p>
            <a:r>
              <a:rPr lang="en-US" dirty="0"/>
              <a:t>Enables a richer, more detailed scene graph generation, akin to human perception.</a:t>
            </a:r>
          </a:p>
          <a:p>
            <a:pPr marL="0" indent="0">
              <a:buNone/>
            </a:pPr>
            <a:r>
              <a:rPr lang="en-US" dirty="0"/>
              <a:t>Knowledge Distillation:</a:t>
            </a:r>
          </a:p>
          <a:p>
            <a:r>
              <a:rPr lang="en-US" dirty="0"/>
              <a:t>Streamlines the model, making it more efficient without significant accuracy loss.</a:t>
            </a:r>
          </a:p>
          <a:p>
            <a:r>
              <a:rPr lang="en-US" dirty="0"/>
              <a:t>Crucial for deploying advanced models in real-world scenarios where resources are limited.</a:t>
            </a:r>
          </a:p>
        </p:txBody>
      </p:sp>
    </p:spTree>
    <p:extLst>
      <p:ext uri="{BB962C8B-B14F-4D97-AF65-F5344CB8AC3E}">
        <p14:creationId xmlns:p14="http://schemas.microsoft.com/office/powerpoint/2010/main" val="2444117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B990EF-4F16-8EAB-848F-1DFF45C7812E}"/>
              </a:ext>
            </a:extLst>
          </p:cNvPr>
          <p:cNvSpPr txBox="1"/>
          <p:nvPr/>
        </p:nvSpPr>
        <p:spPr>
          <a:xfrm>
            <a:off x="953728" y="4591665"/>
            <a:ext cx="4838825" cy="369332"/>
          </a:xfrm>
          <a:prstGeom prst="rect">
            <a:avLst/>
          </a:prstGeom>
          <a:noFill/>
        </p:spPr>
        <p:txBody>
          <a:bodyPr wrap="none" rtlCol="0">
            <a:spAutoFit/>
          </a:bodyPr>
          <a:lstStyle/>
          <a:p>
            <a:r>
              <a:rPr lang="en-US" dirty="0"/>
              <a:t>Fig 3:Model detects the objects and persons</a:t>
            </a:r>
          </a:p>
        </p:txBody>
      </p:sp>
      <p:sp>
        <p:nvSpPr>
          <p:cNvPr id="4" name="TextBox 3">
            <a:extLst>
              <a:ext uri="{FF2B5EF4-FFF2-40B4-BE49-F238E27FC236}">
                <a16:creationId xmlns:a16="http://schemas.microsoft.com/office/drawing/2014/main" id="{9C99A3B3-FC5C-501F-51B3-752ABE87B6D4}"/>
              </a:ext>
            </a:extLst>
          </p:cNvPr>
          <p:cNvSpPr txBox="1"/>
          <p:nvPr/>
        </p:nvSpPr>
        <p:spPr>
          <a:xfrm>
            <a:off x="6589368" y="4591665"/>
            <a:ext cx="5059398" cy="369332"/>
          </a:xfrm>
          <a:prstGeom prst="rect">
            <a:avLst/>
          </a:prstGeom>
          <a:noFill/>
        </p:spPr>
        <p:txBody>
          <a:bodyPr wrap="none" rtlCol="0">
            <a:spAutoFit/>
          </a:bodyPr>
          <a:lstStyle/>
          <a:p>
            <a:r>
              <a:rPr lang="en-US" dirty="0"/>
              <a:t>Fig 4:Model detects Distance between Objects </a:t>
            </a:r>
          </a:p>
        </p:txBody>
      </p:sp>
      <p:pic>
        <p:nvPicPr>
          <p:cNvPr id="2050" name="Picture 2">
            <a:extLst>
              <a:ext uri="{FF2B5EF4-FFF2-40B4-BE49-F238E27FC236}">
                <a16:creationId xmlns:a16="http://schemas.microsoft.com/office/drawing/2014/main" id="{2100BB46-A5B5-50F7-157D-599F789878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234" y="1577464"/>
            <a:ext cx="5257800" cy="2952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10AF055-541E-D58E-4973-2C660460DA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0966" y="1577464"/>
            <a:ext cx="5257800" cy="295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557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D6F7-1CF2-95A0-66C7-DA827FF432D4}"/>
              </a:ext>
            </a:extLst>
          </p:cNvPr>
          <p:cNvSpPr>
            <a:spLocks noGrp="1"/>
          </p:cNvSpPr>
          <p:nvPr>
            <p:ph type="title"/>
          </p:nvPr>
        </p:nvSpPr>
        <p:spPr/>
        <p:txBody>
          <a:bodyPr/>
          <a:lstStyle/>
          <a:p>
            <a:r>
              <a:rPr lang="en-US" dirty="0"/>
              <a:t>Comparisons and Limitations</a:t>
            </a:r>
          </a:p>
        </p:txBody>
      </p:sp>
      <p:sp>
        <p:nvSpPr>
          <p:cNvPr id="3" name="Content Placeholder 2">
            <a:extLst>
              <a:ext uri="{FF2B5EF4-FFF2-40B4-BE49-F238E27FC236}">
                <a16:creationId xmlns:a16="http://schemas.microsoft.com/office/drawing/2014/main" id="{C1EB7E95-756F-FC7F-E607-0548D49070F4}"/>
              </a:ext>
            </a:extLst>
          </p:cNvPr>
          <p:cNvSpPr>
            <a:spLocks noGrp="1"/>
          </p:cNvSpPr>
          <p:nvPr>
            <p:ph idx="1"/>
          </p:nvPr>
        </p:nvSpPr>
        <p:spPr/>
        <p:txBody>
          <a:bodyPr>
            <a:normAutofit fontScale="92500" lnSpcReduction="10000"/>
          </a:bodyPr>
          <a:lstStyle/>
          <a:p>
            <a:pPr marL="0" indent="0">
              <a:buNone/>
            </a:pPr>
            <a:r>
              <a:rPr lang="en-US" dirty="0"/>
              <a:t>Advancements:</a:t>
            </a:r>
          </a:p>
          <a:p>
            <a:r>
              <a:rPr lang="en-US" dirty="0"/>
              <a:t>Our model improves scene graph generation quality and efficiency.</a:t>
            </a:r>
          </a:p>
          <a:p>
            <a:r>
              <a:rPr lang="en-US" dirty="0"/>
              <a:t>Metrics such as recall show improvement without compromising precision, addressing balancing challenges from the original work.</a:t>
            </a:r>
          </a:p>
          <a:p>
            <a:pPr marL="0" indent="0">
              <a:buNone/>
            </a:pPr>
            <a:r>
              <a:rPr lang="en-US" dirty="0"/>
              <a:t>Comparison to Related Works:</a:t>
            </a:r>
          </a:p>
          <a:p>
            <a:r>
              <a:rPr lang="en-US" dirty="0"/>
              <a:t>Enhanced ability to understand complex scenes, particularly with high-density objects and intricate relationships, outperforming baseline methods.</a:t>
            </a:r>
          </a:p>
          <a:p>
            <a:pPr marL="0" indent="0">
              <a:buNone/>
            </a:pPr>
            <a:r>
              <a:rPr lang="en-US" dirty="0"/>
              <a:t>Limitations:</a:t>
            </a:r>
          </a:p>
          <a:p>
            <a:r>
              <a:rPr lang="en-US" dirty="0"/>
              <a:t>Potential for overfitting due to increased model complexity, mitigated but not fully eliminated by regularization techniques.</a:t>
            </a:r>
          </a:p>
          <a:p>
            <a:r>
              <a:rPr lang="en-US" dirty="0"/>
              <a:t>Knowledge distillation reduces model size, potentially leading to loss of nuance in edge cases.</a:t>
            </a:r>
          </a:p>
          <a:p>
            <a:endParaRPr lang="en-US" dirty="0"/>
          </a:p>
        </p:txBody>
      </p:sp>
    </p:spTree>
    <p:extLst>
      <p:ext uri="{BB962C8B-B14F-4D97-AF65-F5344CB8AC3E}">
        <p14:creationId xmlns:p14="http://schemas.microsoft.com/office/powerpoint/2010/main" val="208545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D793B-A331-E9ED-DEA6-875FC6E6A3F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7A73664-7BB5-0CE5-7AA8-83E02FBE2645}"/>
              </a:ext>
            </a:extLst>
          </p:cNvPr>
          <p:cNvSpPr>
            <a:spLocks noGrp="1"/>
          </p:cNvSpPr>
          <p:nvPr>
            <p:ph idx="1"/>
          </p:nvPr>
        </p:nvSpPr>
        <p:spPr/>
        <p:txBody>
          <a:bodyPr>
            <a:normAutofit fontScale="92500" lnSpcReduction="20000"/>
          </a:bodyPr>
          <a:lstStyle/>
          <a:p>
            <a:pPr marL="0" indent="0">
              <a:buNone/>
            </a:pPr>
            <a:r>
              <a:rPr lang="en-US" dirty="0"/>
              <a:t>Enhanced Scene Graph Generation:</a:t>
            </a:r>
          </a:p>
          <a:p>
            <a:r>
              <a:rPr lang="en-US" dirty="0"/>
              <a:t>Our research successfully integrates multi-head self-attention mechanisms, GNNs, and knowledge distillation, significantly improving upon MOTIFNET's interpretative capabilities.</a:t>
            </a:r>
          </a:p>
          <a:p>
            <a:r>
              <a:rPr lang="en-US" dirty="0"/>
              <a:t>Rigorous experimentation validates these enhancements, showing a comprehensive capture of object relationships in complex scenes.</a:t>
            </a:r>
          </a:p>
          <a:p>
            <a:pPr marL="0" indent="0">
              <a:buNone/>
            </a:pPr>
            <a:r>
              <a:rPr lang="en-US" dirty="0"/>
              <a:t>Implications for Computer Vision:</a:t>
            </a:r>
          </a:p>
          <a:p>
            <a:r>
              <a:rPr lang="en-US" dirty="0"/>
              <a:t>The enriched model paves the way for sophisticated image and video analysis tools, benefiting fields such as autonomous navigation, augmented reality, and interactive robotics.</a:t>
            </a:r>
          </a:p>
          <a:p>
            <a:pPr marL="0" indent="0">
              <a:buNone/>
            </a:pPr>
            <a:r>
              <a:rPr lang="en-US" dirty="0"/>
              <a:t>Balanced Performance:</a:t>
            </a:r>
          </a:p>
          <a:p>
            <a:r>
              <a:rPr lang="en-US" dirty="0"/>
              <a:t>The approach balances enhanced performance with computational efficiency, making it suitable for real-world scenarios where resources are limited.</a:t>
            </a:r>
          </a:p>
        </p:txBody>
      </p:sp>
    </p:spTree>
    <p:extLst>
      <p:ext uri="{BB962C8B-B14F-4D97-AF65-F5344CB8AC3E}">
        <p14:creationId xmlns:p14="http://schemas.microsoft.com/office/powerpoint/2010/main" val="390028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7A3E2-08FE-313F-1B2E-AFCE9AC04FC2}"/>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F821443D-0379-AF0E-C9A6-37BDDD4AABA7}"/>
              </a:ext>
            </a:extLst>
          </p:cNvPr>
          <p:cNvSpPr>
            <a:spLocks noGrp="1"/>
          </p:cNvSpPr>
          <p:nvPr>
            <p:ph idx="1"/>
          </p:nvPr>
        </p:nvSpPr>
        <p:spPr/>
        <p:txBody>
          <a:bodyPr>
            <a:normAutofit fontScale="92500" lnSpcReduction="10000"/>
          </a:bodyPr>
          <a:lstStyle/>
          <a:p>
            <a:pPr marL="0" indent="0">
              <a:buNone/>
            </a:pPr>
            <a:r>
              <a:rPr lang="en-US" dirty="0"/>
              <a:t>Dynamic Scene Understanding:</a:t>
            </a:r>
          </a:p>
          <a:p>
            <a:r>
              <a:rPr lang="en-US" dirty="0"/>
              <a:t>Extend methodologies to video data, transitioning from static scene graph generation to dynamic understanding.</a:t>
            </a:r>
          </a:p>
          <a:p>
            <a:pPr marL="0" indent="0">
              <a:buNone/>
            </a:pPr>
            <a:r>
              <a:rPr lang="en-US" dirty="0"/>
              <a:t>Diverse Datasets:</a:t>
            </a:r>
          </a:p>
          <a:p>
            <a:r>
              <a:rPr lang="en-US" dirty="0"/>
              <a:t>Evaluate performance across more diverse datasets to assess generalization capabilities.</a:t>
            </a:r>
          </a:p>
          <a:p>
            <a:pPr marL="0" indent="0">
              <a:buNone/>
            </a:pPr>
            <a:r>
              <a:rPr lang="en-US" dirty="0"/>
              <a:t>New Neural Architectures:</a:t>
            </a:r>
          </a:p>
          <a:p>
            <a:r>
              <a:rPr lang="en-US" dirty="0"/>
              <a:t>Explore integrating different neural network architectures, such as Transformer models, for further improvements.</a:t>
            </a:r>
          </a:p>
          <a:p>
            <a:pPr marL="0" indent="0">
              <a:buNone/>
            </a:pPr>
            <a:r>
              <a:rPr lang="en-US" dirty="0"/>
              <a:t>Knowledge Distillation Refinement:</a:t>
            </a:r>
          </a:p>
          <a:p>
            <a:r>
              <a:rPr lang="en-US" dirty="0"/>
              <a:t>Further refine techniques to enhance model efficiency without compromising the depth of interpretation.</a:t>
            </a:r>
          </a:p>
        </p:txBody>
      </p:sp>
    </p:spTree>
    <p:extLst>
      <p:ext uri="{BB962C8B-B14F-4D97-AF65-F5344CB8AC3E}">
        <p14:creationId xmlns:p14="http://schemas.microsoft.com/office/powerpoint/2010/main" val="1894887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F993C45-B237-4CD5-A232-CD2DFFF5AB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 name="Straight Connector 7">
              <a:extLst>
                <a:ext uri="{FF2B5EF4-FFF2-40B4-BE49-F238E27FC236}">
                  <a16:creationId xmlns:a16="http://schemas.microsoft.com/office/drawing/2014/main" id="{BE9EA4F6-F0E3-4DB3-8F82-B91A1F693A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3A7345F-1794-4777-80F8-B67B01BE7F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0" name="Rectangle 23">
              <a:extLst>
                <a:ext uri="{FF2B5EF4-FFF2-40B4-BE49-F238E27FC236}">
                  <a16:creationId xmlns:a16="http://schemas.microsoft.com/office/drawing/2014/main" id="{AEB4062E-9879-4D6E-8C9A-55D81D61C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25">
              <a:extLst>
                <a:ext uri="{FF2B5EF4-FFF2-40B4-BE49-F238E27FC236}">
                  <a16:creationId xmlns:a16="http://schemas.microsoft.com/office/drawing/2014/main" id="{E0E1E50E-9B56-49FC-AC93-34C80F4385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786CF095-2697-4E6D-832B-E71B7C8D6D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7">
              <a:extLst>
                <a:ext uri="{FF2B5EF4-FFF2-40B4-BE49-F238E27FC236}">
                  <a16:creationId xmlns:a16="http://schemas.microsoft.com/office/drawing/2014/main" id="{A93A2EA0-D245-490B-A61D-8B32A8DF4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8">
              <a:extLst>
                <a:ext uri="{FF2B5EF4-FFF2-40B4-BE49-F238E27FC236}">
                  <a16:creationId xmlns:a16="http://schemas.microsoft.com/office/drawing/2014/main" id="{6BAC7BF2-009C-48C7-A7F2-2139B5079D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9">
              <a:extLst>
                <a:ext uri="{FF2B5EF4-FFF2-40B4-BE49-F238E27FC236}">
                  <a16:creationId xmlns:a16="http://schemas.microsoft.com/office/drawing/2014/main" id="{7D60F62B-3828-4F12-B884-8A8925325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D8A41293-53F5-4380-B216-EB66A4353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A6DDE673-E05B-400B-B6E1-335E425D8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19" name="Rectangle 18">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5" name="Straight Connector 24">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65B376F-9E40-247D-05D6-5161FB878DB4}"/>
              </a:ext>
            </a:extLst>
          </p:cNvPr>
          <p:cNvSpPr>
            <a:spLocks noGrp="1"/>
          </p:cNvSpPr>
          <p:nvPr>
            <p:ph type="title"/>
          </p:nvPr>
        </p:nvSpPr>
        <p:spPr>
          <a:xfrm>
            <a:off x="1507067" y="1397000"/>
            <a:ext cx="7766936" cy="2653836"/>
          </a:xfrm>
        </p:spPr>
        <p:txBody>
          <a:bodyPr vert="horz" lIns="91440" tIns="45720" rIns="91440" bIns="45720" rtlCol="0" anchor="b">
            <a:normAutofit/>
          </a:bodyPr>
          <a:lstStyle/>
          <a:p>
            <a:pPr algn="r"/>
            <a:r>
              <a:rPr lang="en-US" sz="5400"/>
              <a:t>Thank you</a:t>
            </a:r>
          </a:p>
        </p:txBody>
      </p:sp>
      <p:sp>
        <p:nvSpPr>
          <p:cNvPr id="29"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154640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167</TotalTime>
  <Words>1124</Words>
  <Application>Microsoft Office PowerPoint</Application>
  <PresentationFormat>Widescreen</PresentationFormat>
  <Paragraphs>88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Garamond</vt:lpstr>
      <vt:lpstr>Trebuchet MS</vt:lpstr>
      <vt:lpstr>Wingdings 3</vt:lpstr>
      <vt:lpstr>Facet</vt:lpstr>
      <vt:lpstr>Enhancing Scene Graph Generation with Stacked Motif Networks and Deep Learning Innovations </vt:lpstr>
      <vt:lpstr>Introduction</vt:lpstr>
      <vt:lpstr>Aim of project</vt:lpstr>
      <vt:lpstr>Methodology</vt:lpstr>
      <vt:lpstr>Enhancements</vt:lpstr>
      <vt:lpstr>Techniques</vt:lpstr>
      <vt:lpstr>PowerPoint Presentation</vt:lpstr>
      <vt:lpstr>Computational Challenges and Solutions</vt:lpstr>
      <vt:lpstr>Discussions and Result</vt:lpstr>
      <vt:lpstr>PowerPoint Presentation</vt:lpstr>
      <vt:lpstr>Comparisons and Limitations</vt:lpstr>
      <vt:lpstr>Conclusion</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Scene Graph Generation with Stacked Motif Networks and Deep Learning Innovations </dc:title>
  <dc:creator>Bharath Tanniru</dc:creator>
  <cp:lastModifiedBy>Bharath Tanniru</cp:lastModifiedBy>
  <cp:revision>4</cp:revision>
  <dcterms:created xsi:type="dcterms:W3CDTF">2024-04-30T01:20:15Z</dcterms:created>
  <dcterms:modified xsi:type="dcterms:W3CDTF">2024-05-05T20:17:04Z</dcterms:modified>
</cp:coreProperties>
</file>